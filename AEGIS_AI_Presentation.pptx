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● AUTONOMOUS EXPOSURE MANAGEMENT PLATFORM</a:t>
            </a:r>
          </a:p>
          <a:p>
            <a:pPr>
              <a:defRPr sz="4800" b="1">
                <a:solidFill>
                  <a:srgbClr val="F8FAFC"/>
                </a:solidFill>
              </a:defRPr>
            </a:pPr>
            <a:r>
              <a:t>AEGIS-AI</a:t>
            </a:r>
          </a:p>
          <a:p>
            <a:pPr>
              <a:defRPr sz="1800">
                <a:solidFill>
                  <a:srgbClr val="00F0FF"/>
                </a:solidFill>
              </a:defRPr>
            </a:pPr>
            <a:r>
              <a:t>Continuous Threat Exposure Management (CTEM) &amp; Explainable RBVM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Presenter: Vidit Singhal | Cluster: Cloud Security &amp; Ethical AI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Live Demo: https://aegis-ai-khaki-eight.vercel.app  |  GitHub: ViditSinghal-18/AEGIS-AI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INDUSTRY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Alert Fatigue Crisis in Modern SecOps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3366"/>
                </a:solidFill>
              </a:defRPr>
            </a:pPr>
            <a:r>
              <a:t>10,000+ Theoretical Alerts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Average enterprise receives thousands of CVE alerts monthly. Teams waste weeks triaging harmless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3366"/>
                </a:solidFill>
              </a:defRPr>
            </a:pPr>
            <a:r>
              <a:t>85%+ Unreachable Flaws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Over 85% of reported dependencies sit in dead internal code that external attackers cannot trigger.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474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3366"/>
                </a:solidFill>
              </a:defRPr>
            </a:pPr>
            <a:r>
              <a:t>Blind CVSS Reliance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CVSS 9.8 treated as crisis-level critical even when completely unexposed and lacking wild exploits.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CONCEPTUAL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Clueless Guard vs. The Context-Aware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3366"/>
                </a:solidFill>
              </a:defRPr>
            </a:pPr>
            <a:r>
              <a:t>❌ Traditional Scanner (The Clueless Guard)</a:t>
            </a:r>
            <a:br/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Walks into a hospital with a generic handbook of product recalls.</a:t>
            </a:r>
            <a:br/>
            <a:br/>
            <a:r>
              <a:t>• Dumps a 400-page binder of 5,000 alerts on the Doctor's desk:</a:t>
            </a:r>
            <a:br/>
            <a:r>
              <a:t>  'A filing cabinet lock on floor 4 has a 1998 flaw, and the basement microwave has a loose pin!'</a:t>
            </a:r>
            <a:br/>
            <a:br/>
            <a:r>
              <a:t>• Overwhelmed, staff ignores the binder, leaving the emergency street exit door wide open.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✅ AEGIS-AI (The Context-Aware Sentinel)</a:t>
            </a:r>
            <a:br/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Inspects what is actually exposed to the public highway (Port 3000 running Express.js).</a:t>
            </a:r>
            <a:br/>
            <a:br/>
            <a:r>
              <a:t>• Traces code execution paths and tells the team:</a:t>
            </a:r>
            <a:br/>
            <a:r>
              <a:t>  'Out of 5,000 theoretical bugs, only ONE is reachable from the public internet with active weaponization (CVE-2024-29041). Fix this today, ignore the microwave!'</a:t>
            </a:r>
            <a:br/>
            <a:br/>
            <a:r>
              <a:t>• Result: 60.0% Alert Noise Reduction &amp; ~14.5 Hours Saved per sprint.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4-Stage Automated Intelligence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STAGE 1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Perimeter Discovery</a:t>
            </a:r>
          </a:p>
          <a:p>
            <a:pPr>
              <a:defRPr sz="1100">
                <a:solidFill>
                  <a:srgbClr val="00F0FF"/>
                </a:solidFill>
              </a:defRPr>
            </a:pPr>
            <a:r>
              <a:t>discovery.py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TCP SYN socket probes (80, 443, 3000) &amp; HTTP service fingerprinting.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STAGE 2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Threat Correlation</a:t>
            </a:r>
          </a:p>
          <a:p>
            <a:pPr>
              <a:defRPr sz="1100">
                <a:solidFill>
                  <a:srgbClr val="00F0FF"/>
                </a:solidFill>
              </a:defRPr>
            </a:pPr>
            <a:r>
              <a:t>correlate.py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Queries Google OSV &amp; NIST NVD for running dependencies, normalizing GHSA/CVE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146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STAGE 3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Explainable RBVM</a:t>
            </a:r>
          </a:p>
          <a:p>
            <a:pPr>
              <a:defRPr sz="1100">
                <a:solidFill>
                  <a:srgbClr val="00F0FF"/>
                </a:solidFill>
              </a:defRPr>
            </a:pPr>
            <a:r>
              <a:t>prioritize.py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Blends FIRST.org EPSS exploit likelihood, AST reachability, and CISA KEV directives.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1460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STAGE 4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Universal Auditor</a:t>
            </a:r>
          </a:p>
          <a:p>
            <a:pPr>
              <a:defRPr sz="1100">
                <a:solidFill>
                  <a:srgbClr val="00F0FF"/>
                </a:solidFill>
              </a:defRPr>
            </a:pPr>
            <a:r>
              <a:t>scanner_online.py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External evaluation of live websites (TLS 1.3, HSTS, CSP, WAF detection, A+ to 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MATHEMATICAL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Multi-Factor Risk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solidFill>
            <a:srgbClr val="020408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Risk Score = (0.35 × CVSS) + (0.30 × Reachability) + (0.25 × EPSS) + (0.10 × Criticality)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2514600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Base CVSS (35%)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Theoretical vulnerability severity from NIST NVD.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383280"/>
            <a:ext cx="2514600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Reachability (30%)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AST execution trace from open ingress socket to vulnerable sink.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83280"/>
            <a:ext cx="2514600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FIRST.org EPSS (25%)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Live daily weaponization probability in the wild (API v1.0).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3383280"/>
            <a:ext cx="2514600" cy="2560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Asset Criticality (10%)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Business sensitivity: Customer database vs. sandbox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INTERACTIVE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Luminescent 3D Cyber Threat Globe &amp; Telemetry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🌍 Three.js WebGL Cyber Globe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Emissive Inner Core with 1,800 coordinate particle points.</a:t>
            </a:r>
            <a:br/>
            <a:br/>
            <a:r>
              <a:t>• Global Threat Origin Vectors:</a:t>
            </a:r>
            <a:br/>
            <a:r>
              <a:t>  - Moscow (APT28 / Fancy Bear)</a:t>
            </a:r>
            <a:br/>
            <a:r>
              <a:t>  - Beijing (Volt Typhoon Ingress)</a:t>
            </a:r>
            <a:br/>
            <a:r>
              <a:t>  - London (External C2 Relay)</a:t>
            </a:r>
            <a:br/>
            <a:r>
              <a:t>  - Tokyo (Mirai Botnet Swarm)</a:t>
            </a:r>
            <a:br/>
            <a:br/>
            <a:r>
              <a:t>• Interactive Raycasting HUD: Hover or click any node to pin live telemetry (IP, ASN, MITRE TTP, Payload).</a:t>
            </a:r>
            <a:br/>
            <a:br/>
            <a:r>
              <a:t>• 2D Canvas Fail-Safe Fallback: Guarantees 60 FPS on any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💻 Live CTEM Telemetry Stream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Expandable Recon Console: Streams real-time progress.</a:t>
            </a:r>
            <a:br/>
            <a:br/>
            <a:r>
              <a:t>• Phase 1: Ingress Discovery (TCP Port 3000 Open [2ms]).</a:t>
            </a:r>
            <a:br/>
            <a:r>
              <a:t>• Phase 2: Perimeter Fingerprint (Express 4.17.1 identified).</a:t>
            </a:r>
            <a:br/>
            <a:r>
              <a:t>• Phase 3: FIRST.org EPSS Sync (CVE-2024-29041 54.6th %ile).</a:t>
            </a:r>
            <a:br/>
            <a:r>
              <a:t>• Phase 4: AST Semantic Trace (GET /redirect ➔ res.location).</a:t>
            </a:r>
            <a:br/>
            <a:r>
              <a:t>• Phase 5: False-Positive Filter (3 unreachable suppressed).</a:t>
            </a:r>
            <a:br/>
            <a:br/>
            <a:r>
              <a:t>• Result: Exposure 72.5/100 · DEFCON 4 · 1 P1 Action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4-Quadrant Threat Exposure Matrix &amp; 5-Axis Attack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📊 4-Quadrant Threat Exposure Matrix</a:t>
            </a:r>
            <a:br/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Scatter Bubble Plot: Plots EPSS Percentile (X) vs. CVSS Severity (Y).</a:t>
            </a:r>
            <a:br/>
            <a:br/>
            <a:r>
              <a:t>• Top-Right Quadrant: Urgent Action Zone (flaws that are both high-severity AND actively exploited).</a:t>
            </a:r>
            <a:br/>
            <a:br/>
            <a:r>
              <a:t>• Bubble Radius: Scaled dynamically based on network reachability.</a:t>
            </a:r>
            <a:br/>
            <a:br/>
            <a:r>
              <a:t>• Interactive Focus: Clicking any bubble synchronizes the 5-axis attack radar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🎯 5-Axis Exploitability Radar</a:t>
            </a:r>
            <a:br/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Multi-Vector Polygon Spider Chart comparing 5 axes:</a:t>
            </a:r>
            <a:br/>
            <a:r>
              <a:t>  1. Base CVSS Severity (Theoretical flaw impact)</a:t>
            </a:r>
            <a:br/>
            <a:r>
              <a:t>  2. FIRST.org EPSS (Wild weaponization proof)</a:t>
            </a:r>
            <a:br/>
            <a:r>
              <a:t>  3. Environmental Reachability (AST socket trace)</a:t>
            </a:r>
            <a:br/>
            <a:r>
              <a:t>  4. Asset Criticality (Production vs sandbox)</a:t>
            </a:r>
            <a:br/>
            <a:r>
              <a:t>  5. CISA KEV Urgency (Federal BOD 22-01 directives)</a:t>
            </a:r>
            <a:br/>
            <a:br/>
            <a:r>
              <a:t>• Plain-English explanations generated for executive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ENTERPRISE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Regulatory Scorecards &amp; CycloneDX v1.5 SBOM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2560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PCI-DSS 4.0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100% (Grade A)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Req 6.2.4 (30-day patch SLA) &amp; Req 1.3.1 (Perimeter Protocol Isolation).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2560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NIST CSF 2.0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100% (Grade B)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PR.PS-01 (Configuration management) &amp; DE.CM-01 (Network monitoring).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14600" cy="2560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ISO 27001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75% (Grade B+)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Controls A.8.8 (Vulnerability management) &amp; A.8.20 (Network security).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14600" cy="2560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SOC 2 Type II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100% (Grade B-)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Criteria CC6.6 &amp; CC7.1 (Logical boundary perimeter defense).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📦 CycloneDX v1.5 Software Bill of Materials (SBOM) Integration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Exports standardized machine-readable JSON SBOMs including cryptographic SHA hashes, dependency licensing, and component lineage to satisfy Executive Order 14028 supply chain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MEASURABLE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Quantitative Security &amp; Efficiency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60.0%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NOISE SUPPRESSION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Of theoretical vulnerability alerts safely filtered via AST reachability proofs.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291840" cy="3657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0FF"/>
                </a:solidFill>
              </a:defRPr>
            </a:pPr>
            <a:r>
              <a:t>~14.5 hrs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SPRINT TIME SAVED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Developer and SecOps hours saved per two-week engineering sprint.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6576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&lt; 24 hrs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MTTR FOR WEAPONIZED FLAWS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Mean Time to Remediate high-exposure CISA KEV vulnerabilities.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● SUMMARY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Experience AEGIS-AI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F0FF"/>
                </a:solidFill>
              </a:defRPr>
            </a:pPr>
            <a:r>
              <a:t>🌐 Live Cloud Platform: https://aegis-ai-khaki-eight.vercel.app</a:t>
            </a:r>
            <a:br/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Global Production Deployment: Hosted serverless on Vercel with zero cold-start delay.</a:t>
            </a:r>
            <a:br/>
            <a:br/>
            <a:r>
              <a:t>• Interactive 3D Cyber Threat Globe with spatial raycast HUD overlays.</a:t>
            </a:r>
            <a:br/>
            <a:br/>
            <a:r>
              <a:t>• Live Universal Web Security Assessor (Audit any public domain: owasp.org, google.com).</a:t>
            </a:r>
            <a:br/>
            <a:br/>
            <a:r>
              <a:t>• Open Source GitHub Repository: https://github.com/ViditSinghal-18/AEGIS-AI</a:t>
            </a:r>
            <a:br/>
            <a:br/>
            <a:r>
              <a:t>Thank you! We are now open for questions and interactive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